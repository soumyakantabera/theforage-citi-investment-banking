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886" r:id="rId2"/>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36" userDrawn="1">
          <p15:clr>
            <a:srgbClr val="A4A3A4"/>
          </p15:clr>
        </p15:guide>
        <p15:guide id="2" pos="264" userDrawn="1">
          <p15:clr>
            <a:srgbClr val="A4A3A4"/>
          </p15:clr>
        </p15:guide>
        <p15:guide id="3" orient="horz" pos="936" userDrawn="1">
          <p15:clr>
            <a:srgbClr val="A4A3A4"/>
          </p15:clr>
        </p15:guide>
        <p15:guide id="4" orient="horz" pos="2520" userDrawn="1">
          <p15:clr>
            <a:srgbClr val="A4A3A4"/>
          </p15:clr>
        </p15:guide>
        <p15:guide id="5" orient="horz"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9948"/>
    <a:srgbClr val="9BBB59"/>
    <a:srgbClr val="2A3647"/>
    <a:srgbClr val="BFBFBF"/>
    <a:srgbClr val="558ED5"/>
    <a:srgbClr val="E6E6E6"/>
    <a:srgbClr val="DCE6F1"/>
    <a:srgbClr val="FDFF5A"/>
    <a:srgbClr val="546C8D"/>
    <a:srgbClr val="C6D9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49" autoAdjust="0"/>
    <p:restoredTop sz="94614" autoAdjust="0"/>
  </p:normalViewPr>
  <p:slideViewPr>
    <p:cSldViewPr snapToGrid="0">
      <p:cViewPr>
        <p:scale>
          <a:sx n="100" d="100"/>
          <a:sy n="100" d="100"/>
        </p:scale>
        <p:origin x="786" y="-1272"/>
      </p:cViewPr>
      <p:guideLst>
        <p:guide orient="horz" pos="2736"/>
        <p:guide pos="264"/>
        <p:guide orient="horz" pos="936"/>
        <p:guide orient="horz" pos="2520"/>
        <p:guide orient="horz" pos="33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1"/>
          </a:xfrm>
          <a:prstGeom prst="rect">
            <a:avLst/>
          </a:prstGeom>
        </p:spPr>
        <p:txBody>
          <a:bodyPr vert="horz" lIns="93312" tIns="46657" rIns="93312" bIns="46657" rtlCol="0"/>
          <a:lstStyle>
            <a:lvl1pPr algn="l">
              <a:defRPr sz="1200"/>
            </a:lvl1pPr>
          </a:lstStyle>
          <a:p>
            <a:endParaRPr lang="en-US" dirty="0"/>
          </a:p>
        </p:txBody>
      </p:sp>
      <p:sp>
        <p:nvSpPr>
          <p:cNvPr id="3" name="Date Placeholder 2"/>
          <p:cNvSpPr>
            <a:spLocks noGrp="1"/>
          </p:cNvSpPr>
          <p:nvPr>
            <p:ph type="dt" idx="1"/>
          </p:nvPr>
        </p:nvSpPr>
        <p:spPr>
          <a:xfrm>
            <a:off x="3978132" y="0"/>
            <a:ext cx="3043343" cy="467071"/>
          </a:xfrm>
          <a:prstGeom prst="rect">
            <a:avLst/>
          </a:prstGeom>
        </p:spPr>
        <p:txBody>
          <a:bodyPr vert="horz" lIns="93312" tIns="46657" rIns="93312" bIns="46657" rtlCol="0"/>
          <a:lstStyle>
            <a:lvl1pPr algn="r">
              <a:defRPr sz="1200"/>
            </a:lvl1pPr>
          </a:lstStyle>
          <a:p>
            <a:fld id="{849BD7E0-0735-4C51-BED6-85D331CB9D50}" type="datetimeFigureOut">
              <a:rPr lang="en-US" smtClean="0"/>
              <a:t>12/1/2022</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312" tIns="46657" rIns="93312" bIns="46657" rtlCol="0" anchor="ctr"/>
          <a:lstStyle/>
          <a:p>
            <a:endParaRPr lang="en-US" dirty="0"/>
          </a:p>
        </p:txBody>
      </p:sp>
      <p:sp>
        <p:nvSpPr>
          <p:cNvPr id="5" name="Notes Placeholder 4"/>
          <p:cNvSpPr>
            <a:spLocks noGrp="1"/>
          </p:cNvSpPr>
          <p:nvPr>
            <p:ph type="body" sz="quarter" idx="3"/>
          </p:nvPr>
        </p:nvSpPr>
        <p:spPr>
          <a:xfrm>
            <a:off x="702310" y="4480004"/>
            <a:ext cx="5618480" cy="3665459"/>
          </a:xfrm>
          <a:prstGeom prst="rect">
            <a:avLst/>
          </a:prstGeom>
        </p:spPr>
        <p:txBody>
          <a:bodyPr vert="horz" lIns="93312" tIns="46657" rIns="93312" bIns="4665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1"/>
            <a:ext cx="3043343" cy="467070"/>
          </a:xfrm>
          <a:prstGeom prst="rect">
            <a:avLst/>
          </a:prstGeom>
        </p:spPr>
        <p:txBody>
          <a:bodyPr vert="horz" lIns="93312" tIns="46657" rIns="93312" bIns="4665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31"/>
            <a:ext cx="3043343" cy="467070"/>
          </a:xfrm>
          <a:prstGeom prst="rect">
            <a:avLst/>
          </a:prstGeom>
        </p:spPr>
        <p:txBody>
          <a:bodyPr vert="horz" lIns="93312" tIns="46657" rIns="93312" bIns="46657" rtlCol="0" anchor="b"/>
          <a:lstStyle>
            <a:lvl1pPr algn="r">
              <a:defRPr sz="1200"/>
            </a:lvl1pPr>
          </a:lstStyle>
          <a:p>
            <a:fld id="{99FF416D-3A13-4461-9A32-8814D42D49EB}" type="slidenum">
              <a:rPr lang="en-US" smtClean="0"/>
              <a:t>‹#›</a:t>
            </a:fld>
            <a:endParaRPr lang="en-US" dirty="0"/>
          </a:p>
        </p:txBody>
      </p:sp>
    </p:spTree>
    <p:extLst>
      <p:ext uri="{BB962C8B-B14F-4D97-AF65-F5344CB8AC3E}">
        <p14:creationId xmlns:p14="http://schemas.microsoft.com/office/powerpoint/2010/main" val="3113220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dirty="0"/>
          </a:p>
        </p:txBody>
      </p:sp>
      <p:sp>
        <p:nvSpPr>
          <p:cNvPr id="4" name="Slide Number Placeholder 3"/>
          <p:cNvSpPr>
            <a:spLocks noGrp="1"/>
          </p:cNvSpPr>
          <p:nvPr>
            <p:ph type="sldNum" sz="quarter" idx="10"/>
          </p:nvPr>
        </p:nvSpPr>
        <p:spPr/>
        <p:txBody>
          <a:bodyPr/>
          <a:lstStyle/>
          <a:p>
            <a:fld id="{E262F593-AD9B-4352-A2D4-D77C9B23497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95619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534400" cy="533400"/>
          </a:xfrm>
        </p:spPr>
        <p:txBody>
          <a:bodyPr/>
          <a:lstStyle/>
          <a:p>
            <a:r>
              <a:rPr lang="en-US" dirty="0"/>
              <a:t>Click to edit Master title style</a:t>
            </a:r>
          </a:p>
        </p:txBody>
      </p:sp>
      <p:sp>
        <p:nvSpPr>
          <p:cNvPr id="10" name="Content Placeholder 9"/>
          <p:cNvSpPr>
            <a:spLocks noGrp="1"/>
          </p:cNvSpPr>
          <p:nvPr>
            <p:ph sz="quarter" idx="13"/>
          </p:nvPr>
        </p:nvSpPr>
        <p:spPr>
          <a:xfrm>
            <a:off x="304800" y="838200"/>
            <a:ext cx="8534400" cy="5486400"/>
          </a:xfrm>
        </p:spPr>
        <p:txBody>
          <a:bodyPr/>
          <a:lstStyle>
            <a:lvl1pPr>
              <a:defRPr>
                <a:solidFill>
                  <a:schemeClr val="tx1"/>
                </a:solidFill>
              </a:defRPr>
            </a:lvl1pPr>
            <a:lvl2pPr>
              <a:defRPr sz="950">
                <a:solidFill>
                  <a:schemeClr val="tx1"/>
                </a:solidFill>
              </a:defRPr>
            </a:lvl2pPr>
            <a:lvl3pPr>
              <a:defRPr sz="900">
                <a:solidFill>
                  <a:schemeClr val="tx1"/>
                </a:solidFill>
              </a:defRPr>
            </a:lvl3pPr>
            <a:lvl4pPr>
              <a:defRPr sz="1100">
                <a:solidFill>
                  <a:schemeClr val="tx1"/>
                </a:solidFill>
              </a:defRPr>
            </a:lvl4pPr>
            <a:lvl5pPr>
              <a:defRPr sz="1100" i="1">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11"/>
          <p:cNvSpPr>
            <a:spLocks noGrp="1"/>
          </p:cNvSpPr>
          <p:nvPr>
            <p:ph type="body" sz="quarter" idx="16"/>
          </p:nvPr>
        </p:nvSpPr>
        <p:spPr>
          <a:xfrm>
            <a:off x="1676400" y="381000"/>
            <a:ext cx="7162800" cy="304800"/>
          </a:xfrm>
        </p:spPr>
        <p:txBody>
          <a:bodyPr/>
          <a:lstStyle>
            <a:lvl1pPr algn="r">
              <a:buNone/>
              <a:defRPr b="1" i="1">
                <a:solidFill>
                  <a:schemeClr val="accent1"/>
                </a:solidFill>
                <a:latin typeface="+mn-lt"/>
              </a:defRPr>
            </a:lvl1pPr>
            <a:lvl2pPr>
              <a:buNone/>
              <a:defRPr/>
            </a:lvl2pPr>
            <a:lvl3pPr>
              <a:buNone/>
              <a:defRPr/>
            </a:lvl3pPr>
            <a:lvl4pPr>
              <a:buNone/>
              <a:defRPr/>
            </a:lvl4pPr>
            <a:lvl5pPr>
              <a:buNone/>
              <a:defRPr/>
            </a:lvl5pPr>
          </a:lstStyle>
          <a:p>
            <a:pPr lvl="0"/>
            <a:r>
              <a:rPr lang="en-US" dirty="0"/>
              <a:t>Click to edit Master text styles</a:t>
            </a:r>
          </a:p>
        </p:txBody>
      </p:sp>
      <p:sp>
        <p:nvSpPr>
          <p:cNvPr id="5" name="Slide Number Placeholder 22"/>
          <p:cNvSpPr>
            <a:spLocks noGrp="1"/>
          </p:cNvSpPr>
          <p:nvPr>
            <p:ph type="sldNum" sz="quarter" idx="17"/>
          </p:nvPr>
        </p:nvSpPr>
        <p:spPr>
          <a:xfrm>
            <a:off x="8224838" y="6575425"/>
            <a:ext cx="1071562" cy="225425"/>
          </a:xfrm>
          <a:prstGeom prst="rect">
            <a:avLst/>
          </a:prstGeom>
        </p:spPr>
        <p:txBody>
          <a:bodyPr/>
          <a:lstStyle>
            <a:lvl1pPr>
              <a:defRPr/>
            </a:lvl1pPr>
          </a:lstStyle>
          <a:p>
            <a:pPr>
              <a:defRPr/>
            </a:pPr>
            <a:fld id="{DEABF985-C6E2-4259-BC55-A2442D7D7EC5}" type="slidenum">
              <a:rPr lang="en-US" smtClean="0">
                <a:solidFill>
                  <a:srgbClr val="000000"/>
                </a:solidFill>
              </a:rPr>
              <a:pPr>
                <a:defRPr/>
              </a:pPr>
              <a:t>‹#›</a:t>
            </a:fld>
            <a:endParaRPr lang="en-US" dirty="0">
              <a:solidFill>
                <a:srgbClr val="000000"/>
              </a:solidFill>
            </a:endParaRPr>
          </a:p>
        </p:txBody>
      </p:sp>
      <p:sp>
        <p:nvSpPr>
          <p:cNvPr id="6" name="Footer Placeholder 9"/>
          <p:cNvSpPr>
            <a:spLocks noGrp="1"/>
          </p:cNvSpPr>
          <p:nvPr>
            <p:ph type="ftr" sz="quarter" idx="18"/>
          </p:nvPr>
        </p:nvSpPr>
        <p:spPr/>
        <p:txBody>
          <a:bodyPr/>
          <a:lstStyle>
            <a:lvl1pPr>
              <a:defRPr/>
            </a:lvl1pPr>
          </a:lstStyle>
          <a:p>
            <a:pPr>
              <a:defRPr/>
            </a:pPr>
            <a:r>
              <a:rPr lang="en-US" dirty="0">
                <a:solidFill>
                  <a:srgbClr val="000000">
                    <a:lumMod val="65000"/>
                    <a:lumOff val="35000"/>
                  </a:srgbClr>
                </a:solidFill>
              </a:rPr>
              <a:t>Source:</a:t>
            </a:r>
          </a:p>
        </p:txBody>
      </p:sp>
    </p:spTree>
    <p:extLst>
      <p:ext uri="{BB962C8B-B14F-4D97-AF65-F5344CB8AC3E}">
        <p14:creationId xmlns:p14="http://schemas.microsoft.com/office/powerpoint/2010/main" val="301240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605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SE THI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1" y="152401"/>
            <a:ext cx="8534400" cy="533400"/>
          </a:xfrm>
        </p:spPr>
        <p:txBody>
          <a:bodyPr/>
          <a:lstStyle>
            <a:lvl1pPr marL="0" algn="l" defTabSz="914400" rtl="0" eaLnBrk="1" fontAlgn="base" latinLnBrk="0" hangingPunct="1">
              <a:spcBef>
                <a:spcPct val="0"/>
              </a:spcBef>
              <a:spcAft>
                <a:spcPct val="0"/>
              </a:spcAft>
              <a:defRPr lang="en-US" sz="1500" b="0" kern="1200" cap="none" baseline="0" dirty="0">
                <a:solidFill>
                  <a:schemeClr val="tx1"/>
                </a:solidFill>
                <a:latin typeface="+mn-lt"/>
                <a:ea typeface="Roboto Lt" pitchFamily="2" charset="0"/>
                <a:cs typeface="Helvetica" panose="020B0604020202020204" pitchFamily="34" charset="0"/>
              </a:defRPr>
            </a:lvl1pPr>
          </a:lstStyle>
          <a:p>
            <a:r>
              <a:rPr lang="en-US" dirty="0"/>
              <a:t>CLICK TO EDIT MASTER TITLE STYLE</a:t>
            </a:r>
          </a:p>
        </p:txBody>
      </p:sp>
      <p:sp>
        <p:nvSpPr>
          <p:cNvPr id="6" name="Footer Placeholder 9"/>
          <p:cNvSpPr>
            <a:spLocks noGrp="1"/>
          </p:cNvSpPr>
          <p:nvPr>
            <p:ph type="ftr" sz="quarter" idx="18"/>
          </p:nvPr>
        </p:nvSpPr>
        <p:spPr/>
        <p:txBody>
          <a:bodyPr/>
          <a:lstStyle>
            <a:lvl1pPr>
              <a:defRPr/>
            </a:lvl1pPr>
          </a:lstStyle>
          <a:p>
            <a:endParaRPr lang="en-US" dirty="0">
              <a:solidFill>
                <a:prstClr val="black">
                  <a:lumMod val="65000"/>
                  <a:lumOff val="35000"/>
                </a:prstClr>
              </a:solidFill>
            </a:endParaRPr>
          </a:p>
        </p:txBody>
      </p:sp>
      <p:sp>
        <p:nvSpPr>
          <p:cNvPr id="11" name="Text Placeholder 14"/>
          <p:cNvSpPr>
            <a:spLocks noGrp="1"/>
          </p:cNvSpPr>
          <p:nvPr>
            <p:ph type="body" sz="quarter" idx="19"/>
          </p:nvPr>
        </p:nvSpPr>
        <p:spPr>
          <a:xfrm>
            <a:off x="469901" y="990600"/>
            <a:ext cx="8204200" cy="1125583"/>
          </a:xfrm>
          <a:prstGeom prst="rect">
            <a:avLst/>
          </a:prstGeom>
        </p:spPr>
        <p:txBody>
          <a:bodyPr/>
          <a:lstStyle>
            <a:lvl1pPr marL="0" indent="0" algn="just" defTabSz="914400" rtl="0" eaLnBrk="1" fontAlgn="base" latinLnBrk="0" hangingPunct="1">
              <a:lnSpc>
                <a:spcPct val="114000"/>
              </a:lnSpc>
              <a:spcBef>
                <a:spcPts val="1200"/>
              </a:spcBef>
              <a:spcAft>
                <a:spcPts val="900"/>
              </a:spcAft>
              <a:buClrTx/>
              <a:buSzPct val="100000"/>
              <a:buFont typeface="Wingdings" pitchFamily="2" charset="2"/>
              <a:buNone/>
              <a:defRPr lang="en-US" sz="1200" b="1" kern="1200" dirty="0" smtClean="0">
                <a:solidFill>
                  <a:schemeClr val="tx1"/>
                </a:solidFill>
                <a:latin typeface="Roboto Lt" pitchFamily="2" charset="0"/>
                <a:ea typeface="Roboto Lt" pitchFamily="2" charset="0"/>
                <a:cs typeface="Helvetica" panose="020B0604020202020204" pitchFamily="34" charset="0"/>
              </a:defRPr>
            </a:lvl1pPr>
            <a:lvl2pPr marL="410779" indent="-204794">
              <a:buClrTx/>
              <a:buSzPct val="100000"/>
              <a:buFont typeface="Wingdings" panose="05000000000000000000" pitchFamily="2" charset="2"/>
              <a:buChar char="§"/>
              <a:defRPr lang="en-US" sz="713" kern="1200" dirty="0" smtClean="0">
                <a:solidFill>
                  <a:schemeClr val="tx1"/>
                </a:solidFill>
                <a:latin typeface="+mn-lt"/>
                <a:ea typeface="+mn-ea"/>
                <a:cs typeface="+mn-cs"/>
              </a:defRPr>
            </a:lvl2pPr>
            <a:lvl3pPr marL="616763" indent="-171456">
              <a:buFont typeface="Wingdings" panose="05000000000000000000" pitchFamily="2" charset="2"/>
              <a:buChar char="q"/>
              <a:defRPr lang="en-US" sz="675" kern="1200" dirty="0" smtClean="0">
                <a:solidFill>
                  <a:schemeClr val="tx1"/>
                </a:solidFill>
                <a:latin typeface="+mn-lt"/>
                <a:ea typeface="+mn-ea"/>
                <a:cs typeface="+mn-cs"/>
              </a:defRPr>
            </a:lvl3pPr>
          </a:lstStyle>
          <a:p>
            <a:pPr marL="204794" lvl="0" indent="-204794" algn="l" rtl="0" eaLnBrk="1" fontAlgn="base" hangingPunct="1">
              <a:lnSpc>
                <a:spcPct val="114000"/>
              </a:lnSpc>
              <a:spcBef>
                <a:spcPts val="450"/>
              </a:spcBef>
              <a:spcAft>
                <a:spcPct val="0"/>
              </a:spcAft>
              <a:buClrTx/>
              <a:buSzPct val="76000"/>
              <a:buFont typeface="Wingdings" pitchFamily="2" charset="2"/>
              <a:buChar char="§"/>
            </a:pPr>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marL="616763" lvl="2" indent="-171456" algn="l" rtl="0" eaLnBrk="1" fontAlgn="base" hangingPunct="1">
              <a:spcBef>
                <a:spcPct val="0"/>
              </a:spcBef>
              <a:spcAft>
                <a:spcPts val="225"/>
              </a:spcAft>
              <a:buClrTx/>
              <a:buSzPct val="76000"/>
              <a:buFont typeface="Wingdings" panose="05000000000000000000" pitchFamily="2" charset="2"/>
              <a:buChar char="Ø"/>
            </a:pPr>
            <a:r>
              <a:rPr lang="en-US" dirty="0"/>
              <a:t>Third level</a:t>
            </a:r>
          </a:p>
        </p:txBody>
      </p:sp>
      <p:sp>
        <p:nvSpPr>
          <p:cNvPr id="8" name="Slide Number Placeholder 22"/>
          <p:cNvSpPr txBox="1">
            <a:spLocks/>
          </p:cNvSpPr>
          <p:nvPr userDrawn="1"/>
        </p:nvSpPr>
        <p:spPr>
          <a:xfrm>
            <a:off x="4384221" y="6556375"/>
            <a:ext cx="375557" cy="225425"/>
          </a:xfrm>
          <a:prstGeom prst="rect">
            <a:avLst/>
          </a:prstGeom>
        </p:spPr>
        <p:txBody>
          <a:bodyPr vert="horz" anchor="ctr"/>
          <a:lstStyle>
            <a:defPPr>
              <a:defRPr lang="en-US"/>
            </a:defPPr>
            <a:lvl1pPr marL="0" algn="ctr" defTabSz="914400" rtl="0" eaLnBrk="1" fontAlgn="auto" latinLnBrk="0" hangingPunct="1">
              <a:spcBef>
                <a:spcPts val="0"/>
              </a:spcBef>
              <a:spcAft>
                <a:spcPts val="0"/>
              </a:spcAft>
              <a:defRPr kumimoji="0" sz="1051"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E597324-71BB-4312-8794-C30754F659B3}"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888552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14A766D-D653-4AB1-AA73-807F6173D2D0}" type="datetimeFigureOut">
              <a:rPr lang="en-US" smtClean="0">
                <a:solidFill>
                  <a:prstClr val="black">
                    <a:tint val="75000"/>
                  </a:prstClr>
                </a:solidFill>
              </a:rPr>
              <a:pPr/>
              <a:t>12/1/2022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E016DCD-4470-47B1-B94E-BB0D31D5A9DA}"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419169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0" name="Content Placeholder 9"/>
          <p:cNvSpPr>
            <a:spLocks noGrp="1"/>
          </p:cNvSpPr>
          <p:nvPr>
            <p:ph sz="quarter" idx="13"/>
          </p:nvPr>
        </p:nvSpPr>
        <p:spPr>
          <a:xfrm>
            <a:off x="304800" y="838200"/>
            <a:ext cx="8534400" cy="5486400"/>
          </a:xfrm>
        </p:spPr>
        <p:txBody>
          <a:bodyPr/>
          <a:lstStyle>
            <a:lvl1pPr>
              <a:defRPr>
                <a:solidFill>
                  <a:schemeClr val="tx1"/>
                </a:solidFill>
              </a:defRPr>
            </a:lvl1pPr>
            <a:lvl2pPr>
              <a:defRPr>
                <a:solidFill>
                  <a:schemeClr val="tx1"/>
                </a:solidFill>
              </a:defRPr>
            </a:lvl2pPr>
            <a:lvl3pPr>
              <a:defRPr sz="1100">
                <a:solidFill>
                  <a:schemeClr val="tx1"/>
                </a:solidFill>
              </a:defRPr>
            </a:lvl3pPr>
            <a:lvl4pPr>
              <a:defRPr sz="1100">
                <a:solidFill>
                  <a:schemeClr val="tx1"/>
                </a:solidFill>
              </a:defRPr>
            </a:lvl4pPr>
            <a:lvl5pPr>
              <a:defRPr sz="1100" i="1">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22"/>
          <p:cNvSpPr>
            <a:spLocks noGrp="1"/>
          </p:cNvSpPr>
          <p:nvPr>
            <p:ph type="sldNum" sz="quarter" idx="17"/>
          </p:nvPr>
        </p:nvSpPr>
        <p:spPr>
          <a:xfrm>
            <a:off x="8224838" y="6575425"/>
            <a:ext cx="1071562" cy="225425"/>
          </a:xfrm>
          <a:prstGeom prst="rect">
            <a:avLst/>
          </a:prstGeom>
        </p:spPr>
        <p:txBody>
          <a:bodyPr/>
          <a:lstStyle>
            <a:lvl1pPr>
              <a:defRPr/>
            </a:lvl1pPr>
          </a:lstStyle>
          <a:p>
            <a:pPr>
              <a:defRPr/>
            </a:pPr>
            <a:fld id="{DEABF985-C6E2-4259-BC55-A2442D7D7EC5}" type="slidenum">
              <a:rPr lang="en-US" smtClean="0">
                <a:solidFill>
                  <a:srgbClr val="000000"/>
                </a:solidFill>
              </a:rPr>
              <a:pPr>
                <a:defRPr/>
              </a:pPr>
              <a:t>‹#›</a:t>
            </a:fld>
            <a:endParaRPr lang="en-US" dirty="0">
              <a:solidFill>
                <a:srgbClr val="000000"/>
              </a:solidFill>
            </a:endParaRPr>
          </a:p>
        </p:txBody>
      </p:sp>
      <p:sp>
        <p:nvSpPr>
          <p:cNvPr id="6" name="Footer Placeholder 9"/>
          <p:cNvSpPr>
            <a:spLocks noGrp="1"/>
          </p:cNvSpPr>
          <p:nvPr>
            <p:ph type="ftr" sz="quarter" idx="18"/>
          </p:nvPr>
        </p:nvSpPr>
        <p:spPr/>
        <p:txBody>
          <a:bodyPr/>
          <a:lstStyle>
            <a:lvl1pPr>
              <a:defRPr/>
            </a:lvl1pPr>
          </a:lstStyle>
          <a:p>
            <a:pPr>
              <a:defRPr/>
            </a:pPr>
            <a:r>
              <a:rPr lang="en-US" dirty="0">
                <a:solidFill>
                  <a:srgbClr val="000000">
                    <a:lumMod val="65000"/>
                    <a:lumOff val="35000"/>
                  </a:srgbClr>
                </a:solidFill>
              </a:rPr>
              <a:t>Source:</a:t>
            </a:r>
          </a:p>
        </p:txBody>
      </p:sp>
    </p:spTree>
    <p:extLst>
      <p:ext uri="{BB962C8B-B14F-4D97-AF65-F5344CB8AC3E}">
        <p14:creationId xmlns:p14="http://schemas.microsoft.com/office/powerpoint/2010/main" val="3412380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33400"/>
          </a:xfrm>
        </p:spPr>
        <p:txBody>
          <a:bodyPr/>
          <a:lstStyle/>
          <a:p>
            <a:r>
              <a:rPr lang="en-US" dirty="0"/>
              <a:t>Click to edit Master title style</a:t>
            </a:r>
          </a:p>
        </p:txBody>
      </p:sp>
      <p:sp>
        <p:nvSpPr>
          <p:cNvPr id="3" name="Footer Placeholder 2"/>
          <p:cNvSpPr>
            <a:spLocks noGrp="1"/>
          </p:cNvSpPr>
          <p:nvPr>
            <p:ph type="ftr" sz="quarter" idx="10"/>
          </p:nvPr>
        </p:nvSpPr>
        <p:spPr>
          <a:xfrm>
            <a:off x="304800" y="6294438"/>
            <a:ext cx="8534400" cy="182562"/>
          </a:xfrm>
          <a:prstGeom prst="rect">
            <a:avLst/>
          </a:prstGeom>
        </p:spPr>
        <p:txBody>
          <a:bodyPr/>
          <a:lstStyle/>
          <a:p>
            <a:pPr>
              <a:defRPr/>
            </a:pPr>
            <a:r>
              <a:rPr lang="en-US" dirty="0"/>
              <a:t>(1) Potential extension of the forbearance agreement would be subject to achieving certain milestones (e.g. execution of a letter of intent with a credible buyer)</a:t>
            </a:r>
          </a:p>
        </p:txBody>
      </p:sp>
      <p:sp>
        <p:nvSpPr>
          <p:cNvPr id="6" name="Slide Number Placeholder 22"/>
          <p:cNvSpPr>
            <a:spLocks noGrp="1"/>
          </p:cNvSpPr>
          <p:nvPr>
            <p:ph type="sldNum" sz="quarter" idx="4"/>
          </p:nvPr>
        </p:nvSpPr>
        <p:spPr>
          <a:xfrm>
            <a:off x="8255000" y="6562725"/>
            <a:ext cx="1071562" cy="225425"/>
          </a:xfrm>
          <a:prstGeom prst="rect">
            <a:avLst/>
          </a:prstGeom>
        </p:spPr>
        <p:txBody>
          <a:bodyPr vert="horz" anchor="ctr"/>
          <a:lstStyle>
            <a:lvl1pPr algn="ctr" eaLnBrk="1" fontAlgn="auto" latinLnBrk="0" hangingPunct="1">
              <a:spcBef>
                <a:spcPts val="0"/>
              </a:spcBef>
              <a:spcAft>
                <a:spcPts val="0"/>
              </a:spcAft>
              <a:defRPr kumimoji="0" sz="1050" smtClean="0">
                <a:solidFill>
                  <a:schemeClr val="tx1"/>
                </a:solidFill>
                <a:latin typeface="+mn-lt"/>
              </a:defRPr>
            </a:lvl1pPr>
          </a:lstStyle>
          <a:p>
            <a:pPr>
              <a:defRPr/>
            </a:pPr>
            <a:fld id="{0E597324-71BB-4312-8794-C30754F659B3}" type="slidenum">
              <a:rPr lang="en-US">
                <a:solidFill>
                  <a:srgbClr val="000000"/>
                </a:solidFill>
              </a:rPr>
              <a:pPr>
                <a:defRPr/>
              </a:pPr>
              <a:t>‹#›</a:t>
            </a:fld>
            <a:endParaRPr lang="en-US" dirty="0">
              <a:solidFill>
                <a:srgbClr val="000000"/>
              </a:solidFill>
            </a:endParaRPr>
          </a:p>
        </p:txBody>
      </p:sp>
      <p:sp>
        <p:nvSpPr>
          <p:cNvPr id="15" name="Text Placeholder 14"/>
          <p:cNvSpPr>
            <a:spLocks noGrp="1"/>
          </p:cNvSpPr>
          <p:nvPr>
            <p:ph type="body" sz="quarter" idx="13"/>
          </p:nvPr>
        </p:nvSpPr>
        <p:spPr>
          <a:xfrm>
            <a:off x="304800" y="838200"/>
            <a:ext cx="8531352" cy="5184648"/>
          </a:xfrm>
          <a:prstGeom prst="rect">
            <a:avLst/>
          </a:prstGeom>
        </p:spPr>
        <p:txBody>
          <a:bodyPr/>
          <a:lstStyle>
            <a:lvl1pPr>
              <a:defRPr lang="en-US" sz="1050" kern="1200" dirty="0" smtClean="0">
                <a:solidFill>
                  <a:schemeClr val="tx1"/>
                </a:solidFill>
                <a:latin typeface="+mn-lt"/>
                <a:ea typeface="+mn-ea"/>
                <a:cs typeface="+mn-cs"/>
              </a:defRPr>
            </a:lvl1pPr>
            <a:lvl2pPr>
              <a:defRPr lang="en-US" sz="960" kern="1200" dirty="0" smtClean="0">
                <a:solidFill>
                  <a:schemeClr val="tx1"/>
                </a:solidFill>
                <a:latin typeface="+mn-lt"/>
                <a:ea typeface="+mn-ea"/>
                <a:cs typeface="+mn-cs"/>
              </a:defRPr>
            </a:lvl2pPr>
            <a:lvl3pPr>
              <a:defRPr lang="en-US" sz="960" kern="1200" dirty="0" smtClean="0">
                <a:solidFill>
                  <a:schemeClr val="tx1"/>
                </a:solidFill>
                <a:latin typeface="+mn-lt"/>
                <a:ea typeface="+mn-ea"/>
                <a:cs typeface="+mn-cs"/>
              </a:defRPr>
            </a:lvl3pPr>
          </a:lstStyle>
          <a:p>
            <a:pPr marL="273050" lvl="0" indent="-273050" algn="l" rtl="0" eaLnBrk="1" fontAlgn="base" hangingPunct="1">
              <a:lnSpc>
                <a:spcPct val="114000"/>
              </a:lnSpc>
              <a:spcBef>
                <a:spcPts val="600"/>
              </a:spcBef>
              <a:spcAft>
                <a:spcPct val="0"/>
              </a:spcAft>
              <a:buClrTx/>
              <a:buSzPct val="76000"/>
              <a:buFont typeface="Wingdings" pitchFamily="2" charset="2"/>
              <a:buChar char="§"/>
            </a:pPr>
            <a:r>
              <a:rPr lang="en-US" dirty="0"/>
              <a:t>Click to edit Master text styles</a:t>
            </a:r>
          </a:p>
          <a:p>
            <a:pPr marL="547688" lvl="1" indent="-273050" algn="l" rtl="0" eaLnBrk="1" fontAlgn="base" hangingPunct="1">
              <a:lnSpc>
                <a:spcPct val="114000"/>
              </a:lnSpc>
              <a:spcBef>
                <a:spcPts val="300"/>
              </a:spcBef>
              <a:spcAft>
                <a:spcPts val="300"/>
              </a:spcAft>
              <a:buClr>
                <a:schemeClr val="accent1"/>
              </a:buClr>
              <a:buSzPct val="76000"/>
              <a:buFont typeface="Wingdings" pitchFamily="2" charset="2"/>
              <a:buChar char="q"/>
              <a:defRPr/>
            </a:pPr>
            <a:r>
              <a:rPr lang="en-US" dirty="0"/>
              <a:t>Second level</a:t>
            </a:r>
          </a:p>
          <a:p>
            <a:pPr marL="822325" lvl="2" indent="-228600" algn="l" rtl="0" eaLnBrk="1" fontAlgn="base" hangingPunct="1">
              <a:spcBef>
                <a:spcPct val="0"/>
              </a:spcBef>
              <a:spcAft>
                <a:spcPts val="300"/>
              </a:spcAft>
              <a:buClrTx/>
              <a:buSzPct val="76000"/>
              <a:buFont typeface="Wingdings 3" pitchFamily="18" charset="2"/>
              <a:buChar char=""/>
            </a:pPr>
            <a:r>
              <a:rPr lang="en-US" dirty="0"/>
              <a:t>Third level</a:t>
            </a:r>
          </a:p>
        </p:txBody>
      </p:sp>
    </p:spTree>
    <p:extLst>
      <p:ext uri="{BB962C8B-B14F-4D97-AF65-F5344CB8AC3E}">
        <p14:creationId xmlns:p14="http://schemas.microsoft.com/office/powerpoint/2010/main" val="39291042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8" name="Text Placeholder 12"/>
          <p:cNvSpPr>
            <a:spLocks noGrp="1"/>
          </p:cNvSpPr>
          <p:nvPr>
            <p:ph type="body" idx="1"/>
          </p:nvPr>
        </p:nvSpPr>
        <p:spPr bwMode="auto">
          <a:xfrm>
            <a:off x="304801" y="838200"/>
            <a:ext cx="8534400" cy="5486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lvl="2"/>
            <a:r>
              <a:rPr lang="en-US" dirty="0"/>
              <a:t>Third level</a:t>
            </a:r>
          </a:p>
        </p:txBody>
      </p:sp>
      <p:sp>
        <p:nvSpPr>
          <p:cNvPr id="10"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16" name="Rectangle 15"/>
          <p:cNvSpPr>
            <a:spLocks noChangeArrowheads="1"/>
          </p:cNvSpPr>
          <p:nvPr/>
        </p:nvSpPr>
        <p:spPr bwMode="auto">
          <a:xfrm>
            <a:off x="304800"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8" name="Rectangle 7"/>
          <p:cNvSpPr/>
          <p:nvPr/>
        </p:nvSpPr>
        <p:spPr bwMode="auto">
          <a:xfrm>
            <a:off x="304800" y="838203"/>
            <a:ext cx="8503920" cy="5949953"/>
          </a:xfrm>
          <a:prstGeom prst="rect">
            <a:avLst/>
          </a:prstGeom>
          <a:solidFill>
            <a:srgbClr val="E6E6E6"/>
          </a:solidFill>
          <a:ln w="12700" cap="rnd" cmpd="sng">
            <a:noFill/>
            <a:prstDash val="solid"/>
            <a:round/>
            <a:headEnd type="none" w="med" len="med"/>
            <a:tailEnd type="none" w="med" len="me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prstClr val="black"/>
              </a:solidFill>
            </a:endParaRPr>
          </a:p>
        </p:txBody>
      </p:sp>
      <p:sp>
        <p:nvSpPr>
          <p:cNvPr id="13" name="Slide Number Placeholder 22"/>
          <p:cNvSpPr>
            <a:spLocks noGrp="1"/>
          </p:cNvSpPr>
          <p:nvPr>
            <p:ph type="sldNum" sz="quarter" idx="4"/>
          </p:nvPr>
        </p:nvSpPr>
        <p:spPr>
          <a:xfrm>
            <a:off x="4384221" y="6556375"/>
            <a:ext cx="375557"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a:solidFill>
                  <a:srgbClr val="000000"/>
                </a:solidFill>
              </a:rPr>
              <a:pPr>
                <a:defRPr/>
              </a:pPr>
              <a:t>‹#›</a:t>
            </a:fld>
            <a:endParaRPr lang="en-US" dirty="0">
              <a:solidFill>
                <a:srgbClr val="000000"/>
              </a:solidFill>
            </a:endParaRPr>
          </a:p>
        </p:txBody>
      </p:sp>
      <p:cxnSp>
        <p:nvCxnSpPr>
          <p:cNvPr id="15" name="Straight Connector 14"/>
          <p:cNvCxnSpPr/>
          <p:nvPr userDrawn="1"/>
        </p:nvCxnSpPr>
        <p:spPr>
          <a:xfrm>
            <a:off x="1460607" y="6667276"/>
            <a:ext cx="2834640" cy="0"/>
          </a:xfrm>
          <a:prstGeom prst="line">
            <a:avLst/>
          </a:prstGeom>
          <a:ln w="9525" cmpd="sng">
            <a:solidFill>
              <a:srgbClr val="68686D"/>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4843398" y="6667276"/>
            <a:ext cx="3657600" cy="0"/>
          </a:xfrm>
          <a:prstGeom prst="line">
            <a:avLst/>
          </a:prstGeom>
          <a:ln w="9525" cmpd="sng">
            <a:solidFill>
              <a:srgbClr val="68686D"/>
            </a:solidFill>
          </a:ln>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7780554"/>
      </p:ext>
    </p:extLst>
  </p:cSld>
  <p:clrMap bg1="lt1" tx1="dk1" bg2="lt2" tx2="dk2" accent1="accent1" accent2="accent2" accent3="accent3" accent4="accent4" accent5="accent5" accent6="accent6" hlink="hlink" folHlink="folHlink"/>
  <p:sldLayoutIdLst>
    <p:sldLayoutId id="2147483691" r:id="rId1"/>
    <p:sldLayoutId id="2147483677" r:id="rId2"/>
    <p:sldLayoutId id="2147483673" r:id="rId3"/>
    <p:sldLayoutId id="2147483692" r:id="rId4"/>
    <p:sldLayoutId id="2147483697" r:id="rId5"/>
    <p:sldLayoutId id="2147483698" r:id="rId6"/>
  </p:sldLayoutIdLst>
  <p:txStyles>
    <p:titleStyle>
      <a:lvl1pPr marL="0" algn="l" defTabSz="914400" rtl="0" eaLnBrk="1" fontAlgn="base" latinLnBrk="0" hangingPunct="1">
        <a:spcBef>
          <a:spcPct val="0"/>
        </a:spcBef>
        <a:spcAft>
          <a:spcPct val="0"/>
        </a:spcAft>
        <a:defRPr lang="en-US" sz="1600" b="0" kern="1200" cap="all" baseline="0" dirty="0" smtClean="0">
          <a:solidFill>
            <a:schemeClr val="tx1"/>
          </a:solidFill>
          <a:latin typeface="Roboto Lt" pitchFamily="2" charset="0"/>
          <a:ea typeface="+mj-ea"/>
          <a:cs typeface="Helvetica" panose="020B0604020202020204" pitchFamily="34" charset="0"/>
        </a:defRPr>
      </a:lvl1pPr>
      <a:lvl2pPr algn="l" rtl="0" eaLnBrk="1" fontAlgn="base" hangingPunct="1">
        <a:spcBef>
          <a:spcPct val="0"/>
        </a:spcBef>
        <a:spcAft>
          <a:spcPct val="0"/>
        </a:spcAft>
        <a:defRPr sz="1800">
          <a:solidFill>
            <a:srgbClr val="2A3647"/>
          </a:solidFill>
          <a:latin typeface="Cambria" pitchFamily="18" charset="0"/>
        </a:defRPr>
      </a:lvl2pPr>
      <a:lvl3pPr algn="l" rtl="0" eaLnBrk="1" fontAlgn="base" hangingPunct="1">
        <a:spcBef>
          <a:spcPct val="0"/>
        </a:spcBef>
        <a:spcAft>
          <a:spcPct val="0"/>
        </a:spcAft>
        <a:defRPr sz="1800">
          <a:solidFill>
            <a:srgbClr val="2A3647"/>
          </a:solidFill>
          <a:latin typeface="Cambria" pitchFamily="18" charset="0"/>
        </a:defRPr>
      </a:lvl3pPr>
      <a:lvl4pPr algn="l" rtl="0" eaLnBrk="1" fontAlgn="base" hangingPunct="1">
        <a:spcBef>
          <a:spcPct val="0"/>
        </a:spcBef>
        <a:spcAft>
          <a:spcPct val="0"/>
        </a:spcAft>
        <a:defRPr sz="1800">
          <a:solidFill>
            <a:srgbClr val="2A3647"/>
          </a:solidFill>
          <a:latin typeface="Cambria" pitchFamily="18" charset="0"/>
        </a:defRPr>
      </a:lvl4pPr>
      <a:lvl5pPr algn="l" rtl="0" eaLnBrk="1" fontAlgn="base" hangingPunct="1">
        <a:spcBef>
          <a:spcPct val="0"/>
        </a:spcBef>
        <a:spcAft>
          <a:spcPct val="0"/>
        </a:spcAft>
        <a:defRPr sz="1800">
          <a:solidFill>
            <a:srgbClr val="2A3647"/>
          </a:solidFill>
          <a:latin typeface="Cambria" pitchFamily="18" charset="0"/>
        </a:defRPr>
      </a:lvl5pPr>
      <a:lvl6pPr marL="342911" algn="l" rtl="0" eaLnBrk="1" fontAlgn="base" hangingPunct="1">
        <a:spcBef>
          <a:spcPct val="0"/>
        </a:spcBef>
        <a:spcAft>
          <a:spcPct val="0"/>
        </a:spcAft>
        <a:defRPr sz="1800">
          <a:solidFill>
            <a:schemeClr val="tx2"/>
          </a:solidFill>
          <a:latin typeface="Cambria" pitchFamily="18" charset="0"/>
        </a:defRPr>
      </a:lvl6pPr>
      <a:lvl7pPr marL="685821" algn="l" rtl="0" eaLnBrk="1" fontAlgn="base" hangingPunct="1">
        <a:spcBef>
          <a:spcPct val="0"/>
        </a:spcBef>
        <a:spcAft>
          <a:spcPct val="0"/>
        </a:spcAft>
        <a:defRPr sz="1800">
          <a:solidFill>
            <a:schemeClr val="tx2"/>
          </a:solidFill>
          <a:latin typeface="Cambria" pitchFamily="18" charset="0"/>
        </a:defRPr>
      </a:lvl7pPr>
      <a:lvl8pPr marL="1028732" algn="l" rtl="0" eaLnBrk="1" fontAlgn="base" hangingPunct="1">
        <a:spcBef>
          <a:spcPct val="0"/>
        </a:spcBef>
        <a:spcAft>
          <a:spcPct val="0"/>
        </a:spcAft>
        <a:defRPr sz="1800">
          <a:solidFill>
            <a:schemeClr val="tx2"/>
          </a:solidFill>
          <a:latin typeface="Cambria" pitchFamily="18" charset="0"/>
        </a:defRPr>
      </a:lvl8pPr>
      <a:lvl9pPr marL="1371643" algn="l" rtl="0" eaLnBrk="1" fontAlgn="base" hangingPunct="1">
        <a:spcBef>
          <a:spcPct val="0"/>
        </a:spcBef>
        <a:spcAft>
          <a:spcPct val="0"/>
        </a:spcAft>
        <a:defRPr sz="1800">
          <a:solidFill>
            <a:schemeClr val="tx2"/>
          </a:solidFill>
          <a:latin typeface="Cambria" pitchFamily="18" charset="0"/>
        </a:defRPr>
      </a:lvl9pPr>
    </p:titleStyle>
    <p:bodyStyle>
      <a:lvl1pPr marL="204794" indent="-204794" algn="l" rtl="0" eaLnBrk="1" fontAlgn="base" hangingPunct="1">
        <a:lnSpc>
          <a:spcPct val="114000"/>
        </a:lnSpc>
        <a:spcBef>
          <a:spcPts val="900"/>
        </a:spcBef>
        <a:spcAft>
          <a:spcPct val="0"/>
        </a:spcAft>
        <a:buClrTx/>
        <a:buSzPct val="100000"/>
        <a:buFont typeface="Wingdings" pitchFamily="2" charset="2"/>
        <a:buChar char="§"/>
        <a:defRPr sz="788" kern="1200">
          <a:solidFill>
            <a:schemeClr val="tx1"/>
          </a:solidFill>
          <a:latin typeface="+mn-lt"/>
          <a:ea typeface="+mn-ea"/>
          <a:cs typeface="+mn-cs"/>
        </a:defRPr>
      </a:lvl1pPr>
      <a:lvl2pPr marL="410779" indent="-204794" algn="l" rtl="0" eaLnBrk="1" fontAlgn="base" hangingPunct="1">
        <a:lnSpc>
          <a:spcPct val="114000"/>
        </a:lnSpc>
        <a:spcBef>
          <a:spcPts val="225"/>
        </a:spcBef>
        <a:spcAft>
          <a:spcPts val="225"/>
        </a:spcAft>
        <a:buClrTx/>
        <a:buSzPct val="76000"/>
        <a:buFont typeface="Wingdings" pitchFamily="2" charset="2"/>
        <a:buChar char="q"/>
        <a:defRPr lang="en-US" sz="713" kern="1200" dirty="0" smtClean="0">
          <a:solidFill>
            <a:schemeClr val="tx1"/>
          </a:solidFill>
          <a:latin typeface="+mn-lt"/>
          <a:ea typeface="+mn-ea"/>
          <a:cs typeface="+mn-cs"/>
        </a:defRPr>
      </a:lvl2pPr>
      <a:lvl3pPr marL="616763" indent="-171456" algn="l" rtl="0" eaLnBrk="1" fontAlgn="base" hangingPunct="1">
        <a:spcBef>
          <a:spcPct val="0"/>
        </a:spcBef>
        <a:spcAft>
          <a:spcPts val="225"/>
        </a:spcAft>
        <a:buClrTx/>
        <a:buSzPct val="76000"/>
        <a:buFont typeface="Wingdings" panose="05000000000000000000" pitchFamily="2" charset="2"/>
        <a:buChar char="Ø"/>
        <a:defRPr sz="675" kern="1200">
          <a:solidFill>
            <a:schemeClr val="tx1"/>
          </a:solidFill>
          <a:latin typeface="+mn-lt"/>
          <a:ea typeface="+mn-ea"/>
          <a:cs typeface="+mn-cs"/>
        </a:defRPr>
      </a:lvl3pPr>
      <a:lvl4pPr marL="822748" indent="-171456" algn="l" rtl="0" eaLnBrk="1" fontAlgn="base" hangingPunct="1">
        <a:spcBef>
          <a:spcPts val="225"/>
        </a:spcBef>
        <a:spcAft>
          <a:spcPts val="225"/>
        </a:spcAft>
        <a:buClr>
          <a:srgbClr val="797951"/>
        </a:buClr>
        <a:buSzPct val="70000"/>
        <a:buFont typeface="Wingdings" pitchFamily="2" charset="2"/>
        <a:buChar char=""/>
        <a:defRPr sz="825" kern="1200">
          <a:solidFill>
            <a:schemeClr val="tx1"/>
          </a:solidFill>
          <a:latin typeface="+mn-lt"/>
          <a:ea typeface="+mn-ea"/>
          <a:cs typeface="+mn-cs"/>
        </a:defRPr>
      </a:lvl4pPr>
      <a:lvl5pPr marL="1028732" indent="-171456" algn="l" rtl="0" eaLnBrk="1" fontAlgn="base" hangingPunct="1">
        <a:spcBef>
          <a:spcPts val="225"/>
        </a:spcBef>
        <a:spcAft>
          <a:spcPts val="225"/>
        </a:spcAft>
        <a:buClr>
          <a:schemeClr val="accent2"/>
        </a:buClr>
        <a:buSzPct val="70000"/>
        <a:buFont typeface="Wingdings" pitchFamily="2" charset="2"/>
        <a:buChar char="Ø"/>
        <a:defRPr sz="825" i="1" kern="1200">
          <a:solidFill>
            <a:schemeClr val="tx1"/>
          </a:solidFill>
          <a:latin typeface="+mn-lt"/>
          <a:ea typeface="+mn-ea"/>
          <a:cs typeface="+mn-cs"/>
        </a:defRPr>
      </a:lvl5pPr>
      <a:lvl6pPr marL="1234479" indent="-137165"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43" indent="-137165"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807" indent="-137165"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71" indent="-137165"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11" algn="l" rtl="0" eaLnBrk="1" latinLnBrk="0" hangingPunct="1">
        <a:defRPr kumimoji="0" kern="1200">
          <a:solidFill>
            <a:schemeClr val="tx1"/>
          </a:solidFill>
          <a:latin typeface="+mn-lt"/>
          <a:ea typeface="+mn-ea"/>
          <a:cs typeface="+mn-cs"/>
        </a:defRPr>
      </a:lvl2pPr>
      <a:lvl3pPr marL="685821" algn="l" rtl="0" eaLnBrk="1" latinLnBrk="0" hangingPunct="1">
        <a:defRPr kumimoji="0" kern="1200">
          <a:solidFill>
            <a:schemeClr val="tx1"/>
          </a:solidFill>
          <a:latin typeface="+mn-lt"/>
          <a:ea typeface="+mn-ea"/>
          <a:cs typeface="+mn-cs"/>
        </a:defRPr>
      </a:lvl3pPr>
      <a:lvl4pPr marL="1028732" algn="l" rtl="0" eaLnBrk="1" latinLnBrk="0" hangingPunct="1">
        <a:defRPr kumimoji="0" kern="1200">
          <a:solidFill>
            <a:schemeClr val="tx1"/>
          </a:solidFill>
          <a:latin typeface="+mn-lt"/>
          <a:ea typeface="+mn-ea"/>
          <a:cs typeface="+mn-cs"/>
        </a:defRPr>
      </a:lvl4pPr>
      <a:lvl5pPr marL="1371643" algn="l" rtl="0" eaLnBrk="1" latinLnBrk="0" hangingPunct="1">
        <a:defRPr kumimoji="0" kern="1200">
          <a:solidFill>
            <a:schemeClr val="tx1"/>
          </a:solidFill>
          <a:latin typeface="+mn-lt"/>
          <a:ea typeface="+mn-ea"/>
          <a:cs typeface="+mn-cs"/>
        </a:defRPr>
      </a:lvl5pPr>
      <a:lvl6pPr marL="1714553" algn="l" rtl="0" eaLnBrk="1" latinLnBrk="0" hangingPunct="1">
        <a:defRPr kumimoji="0" kern="1200">
          <a:solidFill>
            <a:schemeClr val="tx1"/>
          </a:solidFill>
          <a:latin typeface="+mn-lt"/>
          <a:ea typeface="+mn-ea"/>
          <a:cs typeface="+mn-cs"/>
        </a:defRPr>
      </a:lvl6pPr>
      <a:lvl7pPr marL="2057464" algn="l" rtl="0" eaLnBrk="1" latinLnBrk="0" hangingPunct="1">
        <a:defRPr kumimoji="0" kern="1200">
          <a:solidFill>
            <a:schemeClr val="tx1"/>
          </a:solidFill>
          <a:latin typeface="+mn-lt"/>
          <a:ea typeface="+mn-ea"/>
          <a:cs typeface="+mn-cs"/>
        </a:defRPr>
      </a:lvl7pPr>
      <a:lvl8pPr marL="2400375" algn="l" rtl="0" eaLnBrk="1" latinLnBrk="0" hangingPunct="1">
        <a:defRPr kumimoji="0" kern="1200">
          <a:solidFill>
            <a:schemeClr val="tx1"/>
          </a:solidFill>
          <a:latin typeface="+mn-lt"/>
          <a:ea typeface="+mn-ea"/>
          <a:cs typeface="+mn-cs"/>
        </a:defRPr>
      </a:lvl8pPr>
      <a:lvl9pPr marL="274328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extLst>
              <p:ext uri="{D42A27DB-BD31-4B8C-83A1-F6EECF244321}">
                <p14:modId xmlns:p14="http://schemas.microsoft.com/office/powerpoint/2010/main" val="3472571953"/>
              </p:ext>
            </p:extLst>
          </p:nvPr>
        </p:nvGraphicFramePr>
        <p:xfrm>
          <a:off x="380422" y="1430445"/>
          <a:ext cx="1163898" cy="426720"/>
        </p:xfrm>
        <a:graphic>
          <a:graphicData uri="http://schemas.openxmlformats.org/drawingml/2006/table">
            <a:tbl>
              <a:tblPr bandRow="1"/>
              <a:tblGrid>
                <a:gridCol w="688068">
                  <a:extLst>
                    <a:ext uri="{9D8B030D-6E8A-4147-A177-3AD203B41FA5}">
                      <a16:colId xmlns:a16="http://schemas.microsoft.com/office/drawing/2014/main" val="20000"/>
                    </a:ext>
                  </a:extLst>
                </a:gridCol>
                <a:gridCol w="475830">
                  <a:extLst>
                    <a:ext uri="{9D8B030D-6E8A-4147-A177-3AD203B41FA5}">
                      <a16:colId xmlns:a16="http://schemas.microsoft.com/office/drawing/2014/main" val="20001"/>
                    </a:ext>
                  </a:extLst>
                </a:gridCol>
              </a:tblGrid>
              <a:tr h="0">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r>
                        <a:rPr lang="en-US" sz="800" b="1" u="none" dirty="0">
                          <a:solidFill>
                            <a:schemeClr val="tx1"/>
                          </a:solidFill>
                        </a:rPr>
                        <a:t>Founded:</a:t>
                      </a:r>
                      <a:endParaRPr lang="en-US" sz="800" b="1" u="none" baseline="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pPr algn="r"/>
                      <a:r>
                        <a:rPr sz="800" b="1"/>
                        <a:t>1966</a:t>
                      </a: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r>
                        <a:rPr lang="en-US" sz="800" b="1" u="none" baseline="0" dirty="0">
                          <a:solidFill>
                            <a:schemeClr val="tx1"/>
                          </a:solidFill>
                        </a:rPr>
                        <a:t>No. Stores: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pPr algn="r"/>
                      <a:r>
                        <a:rPr sz="800" b="1"/>
                        <a:t>1,144</a:t>
                      </a: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16" name="Title 1"/>
          <p:cNvSpPr>
            <a:spLocks noGrp="1"/>
          </p:cNvSpPr>
          <p:nvPr>
            <p:ph type="title"/>
          </p:nvPr>
        </p:nvSpPr>
        <p:spPr>
          <a:xfrm>
            <a:off x="304801" y="152401"/>
            <a:ext cx="8534400" cy="533400"/>
          </a:xfrm>
        </p:spPr>
        <p:txBody>
          <a:bodyPr/>
          <a:lstStyle/>
          <a:p>
            <a:r>
              <a:rPr lang="en-US" sz="1600" b="1" dirty="0"/>
              <a:t>BEST BUY | </a:t>
            </a:r>
            <a:r>
              <a:rPr lang="en-US" sz="1600" dirty="0"/>
              <a:t>TARGET COMPANY PROFILE</a:t>
            </a:r>
          </a:p>
        </p:txBody>
      </p:sp>
      <p:sp>
        <p:nvSpPr>
          <p:cNvPr id="27" name="Rectangle 26"/>
          <p:cNvSpPr/>
          <p:nvPr/>
        </p:nvSpPr>
        <p:spPr bwMode="auto">
          <a:xfrm>
            <a:off x="380422" y="1920240"/>
            <a:ext cx="2332298" cy="228600"/>
          </a:xfrm>
          <a:prstGeom prst="rect">
            <a:avLst/>
          </a:prstGeom>
          <a:solidFill>
            <a:schemeClr val="accent1">
              <a:lumMod val="40000"/>
              <a:lumOff val="60000"/>
            </a:schemeClr>
          </a:solidFill>
          <a:ln w="19050" cap="flat" cmpd="sng" algn="ctr">
            <a:noFill/>
            <a:prstDash val="solid"/>
          </a:ln>
          <a:effectLst/>
        </p:spPr>
        <p:txBody>
          <a:bodyPr anchor="ctr"/>
          <a:lstStyle/>
          <a:p>
            <a:pPr algn="ctr" fontAlgn="b"/>
            <a:r>
              <a:rPr lang="en-US" sz="800" b="1" kern="0" cap="all" dirty="0">
                <a:ea typeface="Roboto Lt" pitchFamily="2" charset="0"/>
                <a:cs typeface="Helvetica" panose="020B0604020202020204" pitchFamily="34" charset="0"/>
              </a:rPr>
              <a:t>ENTERPRISE VALUE</a:t>
            </a:r>
          </a:p>
        </p:txBody>
      </p:sp>
      <p:cxnSp>
        <p:nvCxnSpPr>
          <p:cNvPr id="22" name="Straight Connector 21"/>
          <p:cNvCxnSpPr/>
          <p:nvPr/>
        </p:nvCxnSpPr>
        <p:spPr>
          <a:xfrm>
            <a:off x="2798791" y="1036709"/>
            <a:ext cx="0" cy="5463442"/>
          </a:xfrm>
          <a:prstGeom prst="line">
            <a:avLst/>
          </a:prstGeom>
          <a:ln w="31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2" name="Table 11"/>
          <p:cNvGraphicFramePr>
            <a:graphicFrameLocks noGrp="1"/>
          </p:cNvGraphicFramePr>
          <p:nvPr>
            <p:extLst>
              <p:ext uri="{D42A27DB-BD31-4B8C-83A1-F6EECF244321}">
                <p14:modId xmlns:p14="http://schemas.microsoft.com/office/powerpoint/2010/main" val="1634483374"/>
              </p:ext>
            </p:extLst>
          </p:nvPr>
        </p:nvGraphicFramePr>
        <p:xfrm>
          <a:off x="380422" y="2134036"/>
          <a:ext cx="2332298" cy="2080071"/>
        </p:xfrm>
        <a:graphic>
          <a:graphicData uri="http://schemas.openxmlformats.org/drawingml/2006/table">
            <a:tbl>
              <a:tblPr>
                <a:tableStyleId>{5C22544A-7EE6-4342-B048-85BDC9FD1C3A}</a:tableStyleId>
              </a:tblPr>
              <a:tblGrid>
                <a:gridCol w="1399379">
                  <a:extLst>
                    <a:ext uri="{9D8B030D-6E8A-4147-A177-3AD203B41FA5}">
                      <a16:colId xmlns:a16="http://schemas.microsoft.com/office/drawing/2014/main" val="20000"/>
                    </a:ext>
                  </a:extLst>
                </a:gridCol>
                <a:gridCol w="932919">
                  <a:extLst>
                    <a:ext uri="{9D8B030D-6E8A-4147-A177-3AD203B41FA5}">
                      <a16:colId xmlns:a16="http://schemas.microsoft.com/office/drawing/2014/main" val="20001"/>
                    </a:ext>
                  </a:extLst>
                </a:gridCol>
              </a:tblGrid>
              <a:tr h="297153">
                <a:tc>
                  <a:txBody>
                    <a:bodyPr/>
                    <a:lstStyle/>
                    <a:p>
                      <a:pPr marL="0" marR="0">
                        <a:lnSpc>
                          <a:spcPct val="107000"/>
                        </a:lnSpc>
                        <a:spcBef>
                          <a:spcPts val="0"/>
                        </a:spcBef>
                        <a:spcAft>
                          <a:spcPts val="0"/>
                        </a:spcAft>
                      </a:pPr>
                      <a:r>
                        <a:rPr lang="en-US" sz="800" b="1" dirty="0">
                          <a:effectLst/>
                        </a:rPr>
                        <a:t>Current Share Price </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$80.89</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97153">
                <a:tc>
                  <a:txBody>
                    <a:bodyPr/>
                    <a:lstStyle/>
                    <a:p>
                      <a:pPr marL="0" marR="0">
                        <a:lnSpc>
                          <a:spcPct val="107000"/>
                        </a:lnSpc>
                        <a:spcBef>
                          <a:spcPts val="0"/>
                        </a:spcBef>
                        <a:spcAft>
                          <a:spcPts val="0"/>
                        </a:spcAft>
                      </a:pPr>
                      <a:r>
                        <a:rPr lang="en-US" sz="800" b="1" dirty="0">
                          <a:effectLst/>
                        </a:rPr>
                        <a:t>Shares Outstanding (mm)</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225.5</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97153">
                <a:tc>
                  <a:txBody>
                    <a:bodyPr/>
                    <a:lstStyle/>
                    <a:p>
                      <a:pPr marL="0" marR="0">
                        <a:lnSpc>
                          <a:spcPct val="107000"/>
                        </a:lnSpc>
                        <a:spcBef>
                          <a:spcPts val="0"/>
                        </a:spcBef>
                        <a:spcAft>
                          <a:spcPts val="0"/>
                        </a:spcAft>
                      </a:pPr>
                      <a:r>
                        <a:rPr lang="en-US" sz="800" b="1" dirty="0">
                          <a:effectLst/>
                        </a:rPr>
                        <a:t>Market Cap </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$18,241 mm</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97153">
                <a:tc>
                  <a:txBody>
                    <a:bodyPr/>
                    <a:lstStyle/>
                    <a:p>
                      <a:pPr marL="0" marR="0">
                        <a:lnSpc>
                          <a:spcPct val="107000"/>
                        </a:lnSpc>
                        <a:spcBef>
                          <a:spcPts val="0"/>
                        </a:spcBef>
                        <a:spcAft>
                          <a:spcPts val="0"/>
                        </a:spcAft>
                      </a:pPr>
                      <a:r>
                        <a:rPr lang="en-US" sz="800" b="1" dirty="0">
                          <a:effectLst/>
                        </a:rPr>
                        <a:t>Add: Short-Term Debt </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$16 mm</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97153">
                <a:tc>
                  <a:txBody>
                    <a:bodyPr/>
                    <a:lstStyle/>
                    <a:p>
                      <a:pPr marL="0" marR="0">
                        <a:lnSpc>
                          <a:spcPct val="107000"/>
                        </a:lnSpc>
                        <a:spcBef>
                          <a:spcPts val="0"/>
                        </a:spcBef>
                        <a:spcAft>
                          <a:spcPts val="0"/>
                        </a:spcAft>
                      </a:pPr>
                      <a:r>
                        <a:rPr lang="en-US" sz="800" b="1" dirty="0">
                          <a:effectLst/>
                        </a:rPr>
                        <a:t>Add: Long-Term Debt</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$1,142 mm</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Subtract: Cash and Equivalents</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$932 mm</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Total Enterprise Value</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$18,467 mm</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graphicFrame>
        <p:nvGraphicFramePr>
          <p:cNvPr id="30" name="Table 29"/>
          <p:cNvGraphicFramePr>
            <a:graphicFrameLocks noGrp="1"/>
          </p:cNvGraphicFramePr>
          <p:nvPr>
            <p:extLst>
              <p:ext uri="{D42A27DB-BD31-4B8C-83A1-F6EECF244321}">
                <p14:modId xmlns:p14="http://schemas.microsoft.com/office/powerpoint/2010/main" val="3230205308"/>
              </p:ext>
            </p:extLst>
          </p:nvPr>
        </p:nvGraphicFramePr>
        <p:xfrm>
          <a:off x="1558983" y="1430445"/>
          <a:ext cx="1163898" cy="426720"/>
        </p:xfrm>
        <a:graphic>
          <a:graphicData uri="http://schemas.openxmlformats.org/drawingml/2006/table">
            <a:tbl>
              <a:tblPr bandRow="1"/>
              <a:tblGrid>
                <a:gridCol w="688068">
                  <a:extLst>
                    <a:ext uri="{9D8B030D-6E8A-4147-A177-3AD203B41FA5}">
                      <a16:colId xmlns:a16="http://schemas.microsoft.com/office/drawing/2014/main" val="20000"/>
                    </a:ext>
                  </a:extLst>
                </a:gridCol>
                <a:gridCol w="475830">
                  <a:extLst>
                    <a:ext uri="{9D8B030D-6E8A-4147-A177-3AD203B41FA5}">
                      <a16:colId xmlns:a16="http://schemas.microsoft.com/office/drawing/2014/main" val="20001"/>
                    </a:ext>
                  </a:extLst>
                </a:gridCol>
              </a:tblGrid>
              <a:tr h="0">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r>
                        <a:rPr lang="en-US" sz="800" b="1" u="none" baseline="0" dirty="0">
                          <a:solidFill>
                            <a:schemeClr val="tx1"/>
                          </a:solidFill>
                        </a:rPr>
                        <a:t>Revenue: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pPr algn="r"/>
                      <a:r>
                        <a:rPr sz="800" b="1"/>
                        <a:t>$51.3 billion</a:t>
                      </a: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r>
                        <a:rPr lang="en-US" sz="800" b="1" u="none" baseline="0" dirty="0">
                          <a:solidFill>
                            <a:schemeClr val="tx1"/>
                          </a:solidFill>
                        </a:rPr>
                        <a:t>EBITDA:</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dk1"/>
                          </a:solidFill>
                          <a:latin typeface="Calibri"/>
                        </a:defRPr>
                      </a:lvl1pPr>
                      <a:lvl2pPr marL="342911" algn="l" rtl="0" eaLnBrk="1" latinLnBrk="0" hangingPunct="1">
                        <a:defRPr kumimoji="0" kern="1200">
                          <a:solidFill>
                            <a:schemeClr val="dk1"/>
                          </a:solidFill>
                          <a:latin typeface="Calibri"/>
                        </a:defRPr>
                      </a:lvl2pPr>
                      <a:lvl3pPr marL="685821" algn="l" rtl="0" eaLnBrk="1" latinLnBrk="0" hangingPunct="1">
                        <a:defRPr kumimoji="0" kern="1200">
                          <a:solidFill>
                            <a:schemeClr val="dk1"/>
                          </a:solidFill>
                          <a:latin typeface="Calibri"/>
                        </a:defRPr>
                      </a:lvl3pPr>
                      <a:lvl4pPr marL="1028732" algn="l" rtl="0" eaLnBrk="1" latinLnBrk="0" hangingPunct="1">
                        <a:defRPr kumimoji="0" kern="1200">
                          <a:solidFill>
                            <a:schemeClr val="dk1"/>
                          </a:solidFill>
                          <a:latin typeface="Calibri"/>
                        </a:defRPr>
                      </a:lvl4pPr>
                      <a:lvl5pPr marL="1371643" algn="l" rtl="0" eaLnBrk="1" latinLnBrk="0" hangingPunct="1">
                        <a:defRPr kumimoji="0" kern="1200">
                          <a:solidFill>
                            <a:schemeClr val="dk1"/>
                          </a:solidFill>
                          <a:latin typeface="Calibri"/>
                        </a:defRPr>
                      </a:lvl5pPr>
                      <a:lvl6pPr marL="1714553" algn="l" rtl="0" eaLnBrk="1" latinLnBrk="0" hangingPunct="1">
                        <a:defRPr kumimoji="0" kern="1200">
                          <a:solidFill>
                            <a:schemeClr val="dk1"/>
                          </a:solidFill>
                          <a:latin typeface="Calibri"/>
                        </a:defRPr>
                      </a:lvl6pPr>
                      <a:lvl7pPr marL="2057464" algn="l" rtl="0" eaLnBrk="1" latinLnBrk="0" hangingPunct="1">
                        <a:defRPr kumimoji="0" kern="1200">
                          <a:solidFill>
                            <a:schemeClr val="dk1"/>
                          </a:solidFill>
                          <a:latin typeface="Calibri"/>
                        </a:defRPr>
                      </a:lvl7pPr>
                      <a:lvl8pPr marL="2400375" algn="l" rtl="0" eaLnBrk="1" latinLnBrk="0" hangingPunct="1">
                        <a:defRPr kumimoji="0" kern="1200">
                          <a:solidFill>
                            <a:schemeClr val="dk1"/>
                          </a:solidFill>
                          <a:latin typeface="Calibri"/>
                        </a:defRPr>
                      </a:lvl8pPr>
                      <a:lvl9pPr marL="2743286" algn="l" rtl="0" eaLnBrk="1" latinLnBrk="0" hangingPunct="1">
                        <a:defRPr kumimoji="0" kern="1200">
                          <a:solidFill>
                            <a:schemeClr val="dk1"/>
                          </a:solidFill>
                          <a:latin typeface="Calibri"/>
                        </a:defRPr>
                      </a:lvl9pPr>
                    </a:lstStyle>
                    <a:p>
                      <a:pPr algn="r"/>
                      <a:r>
                        <a:rPr sz="800" b="1"/>
                        <a:t>$3.3 billion</a:t>
                      </a: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31" name="Rectangle 30">
            <a:extLst>
              <a:ext uri="{FF2B5EF4-FFF2-40B4-BE49-F238E27FC236}">
                <a16:creationId xmlns:a16="http://schemas.microsoft.com/office/drawing/2014/main" id="{1E6F25D2-3C88-4998-9558-D05903593669}"/>
              </a:ext>
            </a:extLst>
          </p:cNvPr>
          <p:cNvSpPr/>
          <p:nvPr/>
        </p:nvSpPr>
        <p:spPr bwMode="auto">
          <a:xfrm>
            <a:off x="2870200" y="1012614"/>
            <a:ext cx="5740400" cy="228600"/>
          </a:xfrm>
          <a:prstGeom prst="rect">
            <a:avLst/>
          </a:prstGeom>
          <a:solidFill>
            <a:schemeClr val="accent1">
              <a:lumMod val="40000"/>
              <a:lumOff val="60000"/>
            </a:schemeClr>
          </a:solidFill>
          <a:ln w="19050" cap="flat" cmpd="sng" algn="ctr">
            <a:noFill/>
            <a:prstDash val="solid"/>
          </a:ln>
          <a:effectLst/>
        </p:spPr>
        <p:txBody>
          <a:bodyPr anchor="ctr"/>
          <a:lstStyle/>
          <a:p>
            <a:pPr algn="ctr" fontAlgn="b"/>
            <a:r>
              <a:rPr lang="en-US" sz="800" b="1" kern="0" cap="all" dirty="0">
                <a:ea typeface="Roboto Lt" pitchFamily="2" charset="0"/>
                <a:cs typeface="Helvetica" panose="020B0604020202020204" pitchFamily="34" charset="0"/>
              </a:rPr>
              <a:t>Business overview</a:t>
            </a:r>
          </a:p>
        </p:txBody>
      </p:sp>
      <p:sp>
        <p:nvSpPr>
          <p:cNvPr id="32" name="Rectangle 31">
            <a:extLst>
              <a:ext uri="{FF2B5EF4-FFF2-40B4-BE49-F238E27FC236}">
                <a16:creationId xmlns:a16="http://schemas.microsoft.com/office/drawing/2014/main" id="{3DA71E3B-DE31-416A-BCB5-B4FB9F25E937}"/>
              </a:ext>
            </a:extLst>
          </p:cNvPr>
          <p:cNvSpPr/>
          <p:nvPr/>
        </p:nvSpPr>
        <p:spPr bwMode="auto">
          <a:xfrm>
            <a:off x="2870200" y="1920240"/>
            <a:ext cx="5740400" cy="228600"/>
          </a:xfrm>
          <a:prstGeom prst="rect">
            <a:avLst/>
          </a:prstGeom>
          <a:solidFill>
            <a:schemeClr val="accent1">
              <a:lumMod val="40000"/>
              <a:lumOff val="60000"/>
            </a:schemeClr>
          </a:solidFill>
          <a:ln w="19050" cap="flat" cmpd="sng" algn="ctr">
            <a:noFill/>
            <a:prstDash val="solid"/>
          </a:ln>
          <a:effectLst/>
        </p:spPr>
        <p:txBody>
          <a:bodyPr anchor="ctr"/>
          <a:lstStyle/>
          <a:p>
            <a:pPr algn="ctr" fontAlgn="b"/>
            <a:r>
              <a:rPr lang="en-US" sz="800" b="1" kern="0" cap="all" dirty="0">
                <a:ea typeface="Roboto Lt" pitchFamily="2" charset="0"/>
                <a:cs typeface="Helvetica" panose="020B0604020202020204" pitchFamily="34" charset="0"/>
              </a:rPr>
              <a:t>Recent News </a:t>
            </a:r>
          </a:p>
        </p:txBody>
      </p:sp>
      <p:pic>
        <p:nvPicPr>
          <p:cNvPr id="1028" name="Picture 4">
            <a:extLst>
              <a:ext uri="{FF2B5EF4-FFF2-40B4-BE49-F238E27FC236}">
                <a16:creationId xmlns:a16="http://schemas.microsoft.com/office/drawing/2014/main" id="{87766EB0-E5AF-16CD-8A03-456FAAA22A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926973"/>
            <a:ext cx="797559" cy="46579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227E42E-3E3C-7B75-E036-5DA9549F8839}"/>
              </a:ext>
            </a:extLst>
          </p:cNvPr>
          <p:cNvSpPr/>
          <p:nvPr/>
        </p:nvSpPr>
        <p:spPr bwMode="auto">
          <a:xfrm>
            <a:off x="380422" y="4272915"/>
            <a:ext cx="2332298" cy="228600"/>
          </a:xfrm>
          <a:prstGeom prst="rect">
            <a:avLst/>
          </a:prstGeom>
          <a:solidFill>
            <a:schemeClr val="accent1">
              <a:lumMod val="40000"/>
              <a:lumOff val="60000"/>
            </a:schemeClr>
          </a:solidFill>
          <a:ln w="19050" cap="flat" cmpd="sng" algn="ctr">
            <a:noFill/>
            <a:prstDash val="solid"/>
          </a:ln>
          <a:effectLst/>
        </p:spPr>
        <p:txBody>
          <a:bodyPr anchor="ctr"/>
          <a:lstStyle/>
          <a:p>
            <a:pPr algn="ctr" fontAlgn="b"/>
            <a:r>
              <a:rPr lang="en-US" sz="800" b="1" kern="0" cap="all" dirty="0">
                <a:ea typeface="Roboto Lt" pitchFamily="2" charset="0"/>
                <a:cs typeface="Helvetica" panose="020B0604020202020204" pitchFamily="34" charset="0"/>
              </a:rPr>
              <a:t>LEADERSHIP TEAM</a:t>
            </a:r>
          </a:p>
        </p:txBody>
      </p:sp>
      <p:graphicFrame>
        <p:nvGraphicFramePr>
          <p:cNvPr id="3" name="Table 2">
            <a:extLst>
              <a:ext uri="{FF2B5EF4-FFF2-40B4-BE49-F238E27FC236}">
                <a16:creationId xmlns:a16="http://schemas.microsoft.com/office/drawing/2014/main" id="{D0E71256-C6BF-53E1-BBFF-91401FB50EA1}"/>
              </a:ext>
            </a:extLst>
          </p:cNvPr>
          <p:cNvGraphicFramePr>
            <a:graphicFrameLocks noGrp="1"/>
          </p:cNvGraphicFramePr>
          <p:nvPr>
            <p:extLst>
              <p:ext uri="{D42A27DB-BD31-4B8C-83A1-F6EECF244321}">
                <p14:modId xmlns:p14="http://schemas.microsoft.com/office/powerpoint/2010/main" val="611971196"/>
              </p:ext>
            </p:extLst>
          </p:nvPr>
        </p:nvGraphicFramePr>
        <p:xfrm>
          <a:off x="380422" y="4486711"/>
          <a:ext cx="2332298" cy="2080071"/>
        </p:xfrm>
        <a:graphic>
          <a:graphicData uri="http://schemas.openxmlformats.org/drawingml/2006/table">
            <a:tbl>
              <a:tblPr>
                <a:tableStyleId>{5C22544A-7EE6-4342-B048-85BDC9FD1C3A}</a:tableStyleId>
              </a:tblPr>
              <a:tblGrid>
                <a:gridCol w="1399379">
                  <a:extLst>
                    <a:ext uri="{9D8B030D-6E8A-4147-A177-3AD203B41FA5}">
                      <a16:colId xmlns:a16="http://schemas.microsoft.com/office/drawing/2014/main" val="20000"/>
                    </a:ext>
                  </a:extLst>
                </a:gridCol>
                <a:gridCol w="932919">
                  <a:extLst>
                    <a:ext uri="{9D8B030D-6E8A-4147-A177-3AD203B41FA5}">
                      <a16:colId xmlns:a16="http://schemas.microsoft.com/office/drawing/2014/main" val="20001"/>
                    </a:ext>
                  </a:extLst>
                </a:gridCol>
              </a:tblGrid>
              <a:tr h="297153">
                <a:tc>
                  <a:txBody>
                    <a:bodyPr/>
                    <a:lstStyle/>
                    <a:p>
                      <a:pPr marL="0" marR="0">
                        <a:lnSpc>
                          <a:spcPct val="107000"/>
                        </a:lnSpc>
                        <a:spcBef>
                          <a:spcPts val="0"/>
                        </a:spcBef>
                        <a:spcAft>
                          <a:spcPts val="0"/>
                        </a:spcAft>
                      </a:pPr>
                      <a:r>
                        <a:rPr lang="en-US" sz="800" b="1" dirty="0">
                          <a:effectLst/>
                        </a:rPr>
                        <a:t>Chief Executive Officer</a:t>
                      </a:r>
                      <a:endParaRPr lang="en-US" sz="8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Corie Barry</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Financial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Matt Bilunas</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Merchandising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Jason Bonfig</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Supply Chain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Mark Irvin</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Customer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Jason Bonfig (Chief Customer, Product &amp; Fulfillment)</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Technology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Neal Sample</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97153">
                <a:tc>
                  <a:txBody>
                    <a:bodyPr/>
                    <a:lstStyle/>
                    <a:p>
                      <a:pPr marL="0" marR="0">
                        <a:lnSpc>
                          <a:spcPct val="107000"/>
                        </a:lnSpc>
                        <a:spcBef>
                          <a:spcPts val="0"/>
                        </a:spcBef>
                        <a:spcAft>
                          <a:spcPts val="0"/>
                        </a:spcAft>
                      </a:pPr>
                      <a:r>
                        <a:rPr lang="en-US" sz="800" b="1" dirty="0">
                          <a:effectLst/>
                          <a:latin typeface="Calibri" panose="020F0502020204030204" pitchFamily="34" charset="0"/>
                          <a:ea typeface="Times New Roman" panose="02020603050405020304" pitchFamily="18" charset="0"/>
                          <a:cs typeface="Times New Roman" panose="02020603050405020304" pitchFamily="18" charset="0"/>
                        </a:rPr>
                        <a:t>Chief Risk Officer</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sz="800" b="1"/>
                        <a:t>Todd Hartman</a:t>
                      </a:r>
                    </a:p>
                  </a:txBody>
                  <a:tcPr marL="45720" marR="45720" marT="3683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1029" name="TextBox 1028"/>
          <p:cNvSpPr txBox="1"/>
          <p:nvPr/>
        </p:nvSpPr>
        <p:spPr>
          <a:xfrm>
            <a:off x="2926080" y="1280160"/>
            <a:ext cx="5943600" cy="594360"/>
          </a:xfrm>
          <a:prstGeom prst="rect">
            <a:avLst/>
          </a:prstGeom>
          <a:noFill/>
        </p:spPr>
        <p:txBody>
          <a:bodyPr wrap="square">
            <a:spAutoFit/>
          </a:bodyPr>
          <a:lstStyle/>
          <a:p>
            <a:pPr>
              <a:defRPr sz="600">
                <a:latin typeface="Calibri"/>
              </a:defRPr>
            </a:pPr>
            <a:r>
              <a:t>Best Buy Co., Inc. is a leading multi-channel retailer of consumer electronics, computing and mobile phones, appliances, entertainment products, and related services. Founded in 1966 and headquartered in Richfield, Minnesota, the company operates approximately 1,144 stores across North America and a robust e-commerce platform. Best Buy differentiates through its Totaltech membership program, Geek Squad tech support, and focus on personalized customer experiences, helping consumers navigate technology in their homes and lives.</a:t>
            </a:r>
          </a:p>
        </p:txBody>
      </p:sp>
      <p:sp>
        <p:nvSpPr>
          <p:cNvPr id="1030" name="TextBox 1029"/>
          <p:cNvSpPr txBox="1"/>
          <p:nvPr/>
        </p:nvSpPr>
        <p:spPr>
          <a:xfrm>
            <a:off x="2926080" y="2194560"/>
            <a:ext cx="5943600" cy="1828800"/>
          </a:xfrm>
          <a:prstGeom prst="rect">
            <a:avLst/>
          </a:prstGeom>
          <a:noFill/>
        </p:spPr>
        <p:txBody>
          <a:bodyPr wrap="square">
            <a:spAutoFit/>
          </a:bodyPr>
          <a:lstStyle/>
          <a:p>
            <a:pPr>
              <a:defRPr sz="600">
                <a:latin typeface="Calibri"/>
              </a:defRPr>
            </a:pPr>
            <a:r>
              <a:t>Best Buy has strategically introduced and expanded its annual paid subscription services (e.g., Totaltech and My Best Buy memberships) into its revenue mix. Key takeaways from recent announcements and earnings: (1) These subscriptions provide recurring, predictable revenue and higher margins compared to hardware; (2) They enhance customer loyalty and engagement, driving incremental sales and services attach rates; (3) Tailored promotions for members during peak seasons like holidays boost adoption and retention. Strategic implications: This shift supports revenue diversification amid softening consumer electronics demand, builds a stronger competitive moat through ecosystem lock-in, improves overall profitability, and aligns with long-term growth in services and experiences. The company raised full-year guidance and resumed $1B in share repurchases, underscoring confidence in this strategy.</a:t>
            </a:r>
          </a:p>
        </p:txBody>
      </p:sp>
    </p:spTree>
    <p:extLst>
      <p:ext uri="{BB962C8B-B14F-4D97-AF65-F5344CB8AC3E}">
        <p14:creationId xmlns:p14="http://schemas.microsoft.com/office/powerpoint/2010/main" val="30921903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USE THIS">
  <a:themeElements>
    <a:clrScheme name="Custom 1">
      <a:dk1>
        <a:sysClr val="windowText" lastClr="000000"/>
      </a:dk1>
      <a:lt1>
        <a:sysClr val="window" lastClr="FFFFFF"/>
      </a:lt1>
      <a:dk2>
        <a:srgbClr val="1F497D"/>
      </a:dk2>
      <a:lt2>
        <a:srgbClr val="EEECE1"/>
      </a:lt2>
      <a:accent1>
        <a:srgbClr val="546C8D"/>
      </a:accent1>
      <a:accent2>
        <a:srgbClr val="C0504D"/>
      </a:accent2>
      <a:accent3>
        <a:srgbClr val="386A1D"/>
      </a:accent3>
      <a:accent4>
        <a:srgbClr val="8064A2"/>
      </a:accent4>
      <a:accent5>
        <a:srgbClr val="4BACC6"/>
      </a:accent5>
      <a:accent6>
        <a:srgbClr val="F79646"/>
      </a:accent6>
      <a:hlink>
        <a:srgbClr val="0000FF"/>
      </a:hlink>
      <a:folHlink>
        <a:srgbClr val="800080"/>
      </a:folHlink>
    </a:clrScheme>
    <a:fontScheme name="FPP Presentation">
      <a:majorFont>
        <a:latin typeface="Cambria"/>
        <a:ea typeface=""/>
        <a:cs typeface=""/>
      </a:majorFont>
      <a:minorFont>
        <a:latin typeface="Calibri"/>
        <a:ea typeface=""/>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bwMode="auto">
        <a:solidFill>
          <a:srgbClr val="FDFF5A"/>
        </a:solidFill>
        <a:ln w="28575" cap="rnd" cmpd="sng">
          <a:solidFill>
            <a:schemeClr val="tx1"/>
          </a:solidFill>
          <a:prstDash val="solid"/>
          <a:round/>
          <a:headEnd type="none" w="med" len="med"/>
          <a:tailEnd type="none" w="med" len="med"/>
        </a:ln>
        <a:effectLst/>
      </a:spPr>
      <a:bodyPr rtlCol="0" anchor="ctr"/>
      <a:lstStyle>
        <a:defPPr algn="ctr">
          <a:defRPr/>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9484</TotalTime>
  <Words>73</Words>
  <Application>Microsoft Office PowerPoint</Application>
  <PresentationFormat>On-screen Show (4:3)</PresentationFormat>
  <Paragraphs>24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Calibri</vt:lpstr>
      <vt:lpstr>Cambria</vt:lpstr>
      <vt:lpstr>Roboto Lt</vt:lpstr>
      <vt:lpstr>Wingdings</vt:lpstr>
      <vt:lpstr>Wingdings 3</vt:lpstr>
      <vt:lpstr>2_USE THIS</vt:lpstr>
      <vt:lpstr>BEST BUY | TARGET COMPANY PROFILE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Nathan Fencl</dc:creator>
  <cp:lastModifiedBy>Josh Provost</cp:lastModifiedBy>
  <cp:revision>949</cp:revision>
  <cp:lastPrinted>2017-08-15T08:51:31Z</cp:lastPrinted>
  <dcterms:created xsi:type="dcterms:W3CDTF">2015-11-15T18:39:17Z</dcterms:created>
  <dcterms:modified xsi:type="dcterms:W3CDTF">2022-12-01T17:45:58Z</dcterms:modified>
</cp:coreProperties>
</file>